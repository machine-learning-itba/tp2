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2286000" cy="285750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0" y="3474720"/>
            <a:ext cx="1463040" cy="146304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72.75 Aprendizaje Automático — ITBA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Supervisada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3154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Cáncer de Mama — Wisconsin Dataset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611880"/>
            <a:ext cx="164592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Wisconsin Breast Cancer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737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4173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569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68880" y="1371600"/>
            <a:ext cx="1737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14173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468880" y="20574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0" y="1371600"/>
            <a:ext cx="1737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80560" y="14173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357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480560" y="20574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92240" y="1371600"/>
            <a:ext cx="1737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14173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212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492240" y="20574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Maligno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features originales → 17 tras eliminar correlaciones (|r| &gt; 0.95)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 binaria: Benigno (B=0) / Maligno (M=1)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Mediciones del núcleo celular: radio, textura, perímetro, área, suavidad, etc.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455 | Test 114 — split 80/20 estratificado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4805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desbalanceado → split estratificado obligatorio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Preprocesamiento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0120" y="1371600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00200" y="1691640"/>
            <a:ext cx="9144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1945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569 × 30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71800" y="1371600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7180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11880" y="1691640"/>
            <a:ext cx="9144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21945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468880" y="24688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|r|&gt;0.95 → 17 features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83480" y="1371600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23560" y="1691640"/>
            <a:ext cx="9144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21945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480560" y="24688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estratificado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95160" y="1371600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9516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92240" y="21945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92240" y="24688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dentro del pipeline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337560"/>
            <a:ext cx="8229600" cy="914400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" y="34747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Escalar antes del split contaminaría el test set con información del train. El scaler se ajusta SOLO sobre el fold de entrenamiento en cada iteración de CV.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737360" cy="1280160"/>
          </a:xfrm>
          <a:prstGeom prst="rect">
            <a:avLst/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9202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Maligno → Maligno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68880" y="1828800"/>
            <a:ext cx="1737360" cy="1280160"/>
          </a:xfrm>
          <a:prstGeom prst="rect">
            <a:avLst/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19202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468880" y="24231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Benigno → Maligno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0" y="1645920"/>
            <a:ext cx="1737360" cy="1645920"/>
          </a:xfrm>
          <a:prstGeom prst="rect">
            <a:avLst/>
          </a:prstGeom>
          <a:solidFill>
            <a:srgbClr val="1E293B"/>
          </a:solidFill>
          <a:ln w="25400">
            <a:solidFill>
              <a:srgbClr val="F43F5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80560" y="17373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480560" y="22402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Maligno → Benigno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80560" y="26974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PELIGROSO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92240" y="1828800"/>
            <a:ext cx="1737360" cy="1280160"/>
          </a:xfrm>
          <a:prstGeom prst="rect">
            <a:avLst/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92240" y="19202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92240" y="24231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Benigno → Benigno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450A0A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7490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= tumor maligno no detectado → paciente sin tratamiento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= biopsia innecesaria → costoso, no fatal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Minimizar FN = maximizar Recall. En oncología, un FN puede costar una vida.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1371600"/>
          </a:xfrm>
          <a:prstGeom prst="rect">
            <a:avLst/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1188720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PRINCIPAL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/ TPR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93852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 / (TP + FN)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194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¿De todos los enfermos, cuántos detectamos?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1280160"/>
            <a:ext cx="3931920" cy="1371600"/>
          </a:xfrm>
          <a:prstGeom prst="rect">
            <a:avLst/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417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Especificidad / TNR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63440" y="170992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TN / (TN + FP)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63440" y="1965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¿De todos los sanos, cuántos identificamos?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3931920" cy="1371600"/>
          </a:xfrm>
          <a:prstGeom prst="rect">
            <a:avLst/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2971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 / VPP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326440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 / (TP + FP)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3520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¿De los clasificados como enfermos, cuántos lo son?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0" y="2834640"/>
            <a:ext cx="3931920" cy="1371600"/>
          </a:xfrm>
          <a:prstGeom prst="rect">
            <a:avLst/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63440" y="2971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663440" y="326440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TN / (TN + FN)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63440" y="3520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¿De los clasificados como sanos, cuántos lo son?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343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y Especificidad están en trade-off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4747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430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TPR vs FPR para todos los umbrales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capacidad discriminativa general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Threshold-free: compara modelos sin fijar umbral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métrica de ranking para desempatar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206240" y="1005840"/>
            <a:ext cx="44805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389120" y="11430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descartadas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0" y="1554480"/>
          <a:ext cx="4114800" cy="2560320"/>
        </p:xfrm>
        <a:graphic>
          <a:graphicData uri="http://schemas.openxmlformats.org/drawingml/2006/table">
            <a:tbl>
              <a:tblPr/>
              <a:tblGrid>
                <a:gridCol w="1645920"/>
                <a:gridCol w="246888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qué 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Engañosa con clases desbalanceadas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Combina Recall + Precision por igual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(VPP)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Penaliza FP, no FN → prioridad incorrecta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Robusto pero difícil de interpretar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Reportamos F1 y Accuracy como secundarias para completitud.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Clasificadores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Evaluados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2560320"/>
        </p:xfrm>
        <a:graphic>
          <a:graphicData uri="http://schemas.openxmlformats.org/drawingml/2006/table">
            <a:tbl>
              <a:tblPr/>
              <a:tblGrid>
                <a:gridCol w="2011680"/>
                <a:gridCol w="2560320"/>
                <a:gridCol w="3657600"/>
              </a:tblGrid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Tendencia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Bayes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Underfitting (independencia de features)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Lineal discriminativo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Underfitting (frontera lineal)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(RBF)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Kernel discriminativo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Overfitting si C alto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Basado en instancias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 con k bajo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 (bagging)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 sin límite de profundidad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estratificado 5-fold en todos los modelos. Test set intacto.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CV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Hiperparámetros default</a:t>
            </a:r>
            <a:endParaRPr lang="en-US" sz="1800" dirty="0"/>
          </a:p>
        </p:txBody>
      </p:sp>
      <p:pic>
        <p:nvPicPr>
          <p:cNvPr id="4" name="Image 0" descr="outputs/cv_baseline_comparis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188720"/>
            <a:ext cx="7680960" cy="2743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0"/>
            <a:ext cx="822960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416052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lidera: Recall=0.959, ROC-AUC=0.995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y KNN empatan: Recall=0.906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más bajo: Recall=0.876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Bias-Varianza</a:t>
            </a:r>
            <a:endParaRPr lang="en-US" sz="2800" dirty="0"/>
          </a:p>
        </p:txBody>
      </p:sp>
      <p:pic>
        <p:nvPicPr>
          <p:cNvPr id="3" name="Image 0" descr="outputs/overfitting_train_vs_cv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14400"/>
            <a:ext cx="5943600" cy="2926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583680" y="914400"/>
            <a:ext cx="21031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6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720840" y="1051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720840" y="1417320"/>
            <a:ext cx="1828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SVM: gap mínimo → bien regularizado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RF: gap ~0.07 → overfitting leve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NB/LDA: gap chico → underfitting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KNN: gap moderado → sensible a k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Gaps</a:t>
            </a:r>
            <a:endParaRPr lang="en-US" sz="2800" dirty="0"/>
          </a:p>
        </p:txBody>
      </p:sp>
      <p:pic>
        <p:nvPicPr>
          <p:cNvPr id="3" name="Image 0" descr="outputs/overfitting_gap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097280"/>
            <a:ext cx="7680960" cy="2743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6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40080" y="41148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= 0.05 (línea roja)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cruza umbral → controlar max_depth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bajo + CV alto = buen trade-off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Curvas de Validación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26060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6000"/>
              </a:srgbClr>
            </a:outerShdw>
          </a:effectLst>
        </p:spPr>
      </p:sp>
      <p:pic>
        <p:nvPicPr>
          <p:cNvPr id="4" name="Image 0" descr="outputs/svm/val_curve_C (regularización)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960120"/>
            <a:ext cx="2514600" cy="2194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32004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SVM: C óptimo ~1–10; C alto → overfit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108960" y="914400"/>
            <a:ext cx="26060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6000"/>
              </a:srgbClr>
            </a:outerShdw>
          </a:effectLst>
        </p:spPr>
      </p:sp>
      <p:pic>
        <p:nvPicPr>
          <p:cNvPr id="7" name="Image 1" descr="outputs/knn/val_curve_k (número de vecinos)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154680" y="960120"/>
            <a:ext cx="2514600" cy="21945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154680" y="32004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KNN: k óptimo 5–9; k=1 overfit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852160" y="914400"/>
            <a:ext cx="26060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6000"/>
              </a:srgbClr>
            </a:outerShdw>
          </a:effectLst>
        </p:spPr>
      </p:sp>
      <p:pic>
        <p:nvPicPr>
          <p:cNvPr id="10" name="Image 2" descr="outputs/rf/val_curve_Profundidad máxima del árbol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897880" y="960120"/>
            <a:ext cx="2514600" cy="21945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897880" y="32004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RF: max_depth ~6–10; sin límite → overfit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26060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6000"/>
              </a:srgbClr>
            </a:outerShdw>
          </a:effectLst>
        </p:spPr>
      </p:sp>
      <p:pic>
        <p:nvPicPr>
          <p:cNvPr id="4" name="Image 0" descr="outputs/svm/hyperparam_gri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960120"/>
            <a:ext cx="2514600" cy="2194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32004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SVM: C=3.16, kernel=rbf → Recall=0.953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108960" y="914400"/>
            <a:ext cx="26060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6000"/>
              </a:srgbClr>
            </a:outerShdw>
          </a:effectLst>
        </p:spPr>
      </p:sp>
      <p:pic>
        <p:nvPicPr>
          <p:cNvPr id="7" name="Image 1" descr="outputs/knn/hyperparam_gri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154680" y="960120"/>
            <a:ext cx="2514600" cy="21945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154680" y="32004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KNN: k=7, weights=uniform → Recall=0.924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852160" y="914400"/>
            <a:ext cx="26060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6000"/>
              </a:srgbClr>
            </a:outerShdw>
          </a:effectLst>
        </p:spPr>
      </p:sp>
      <p:pic>
        <p:nvPicPr>
          <p:cNvPr id="10" name="Image 2" descr="outputs/rf/hyperparam_gri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897880" y="960120"/>
            <a:ext cx="2514600" cy="21945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897880" y="32004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RF: max_depth=6, n_est=100 → Recall=0.929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del Tuning</a:t>
            </a:r>
            <a:endParaRPr lang="en-US" sz="2800" dirty="0"/>
          </a:p>
        </p:txBody>
      </p:sp>
      <p:pic>
        <p:nvPicPr>
          <p:cNvPr id="3" name="Image 0" descr="outputs/before_after_tun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005840"/>
            <a:ext cx="7315200" cy="25603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6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40080" y="38404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SVM: sin cambio — C=1 era default óptimo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RF: leve mejora (+0.005) con n_estimators=200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LDA: mejora ROC-AUC con shrinkage=0.1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KNN: sin mejora significativa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Final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solidFill>
            <a:srgbClr val="1D4ED8"/>
          </a:solidFill>
          <a:ln w="25400">
            <a:solidFill>
              <a:srgbClr val="06B6D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se selecciona por validación cruzada — NO por test set.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test set se evalúa UNA SOLA VEZ. Usarlo para selección introduce optimistic bias.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por Recall CV tuned: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365760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5146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2514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00400" y="25146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0.959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14800" y="25146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seleccionado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365760" cy="3200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9260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926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00400" y="2926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0.929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337560"/>
            <a:ext cx="365760" cy="3200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3375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3337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/ NB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200400" y="3337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0.906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365760" cy="3200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7490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749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200400" y="37490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0.882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0" y="2148840"/>
            <a:ext cx="320040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69280" y="22860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669280" y="269748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RBF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CV = 0.959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CV = 0.995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Test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(RBF, C=1)</a:t>
            </a:r>
            <a:endParaRPr lang="en-US" sz="1800" dirty="0"/>
          </a:p>
        </p:txBody>
      </p:sp>
      <p:pic>
        <p:nvPicPr>
          <p:cNvPr id="4" name="Image 0" descr="outputs/svm/confusion_matrix_te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97280"/>
            <a:ext cx="4114800" cy="2560320"/>
          </a:xfrm>
          <a:prstGeom prst="rect">
            <a:avLst/>
          </a:prstGeom>
        </p:spPr>
      </p:pic>
      <p:pic>
        <p:nvPicPr>
          <p:cNvPr id="5" name="Image 1" descr="outputs/svm/roc_curve_tes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1097280"/>
            <a:ext cx="3931920" cy="25603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286000" y="3703320"/>
            <a:ext cx="457200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0" y="3749040"/>
          <a:ext cx="4572000" cy="6858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  <a:gridCol w="1143000"/>
              </a:tblGrid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0.929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8" name="Text 3"/>
          <p:cNvSpPr/>
          <p:nvPr/>
        </p:nvSpPr>
        <p:spPr>
          <a:xfrm>
            <a:off x="457200" y="4572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test (0.929) ≈ Recall CV (0.959) → generaliza bien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FN de 42 muestras malignas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= 0.995 → discriminación casi perfecta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5661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RBF = mejor clasificador (Recall CV 0.959)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modelos &gt; 0.87 Recall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marginal — defaults razonables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con scaler interno = no data leakage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463040"/>
            <a:ext cx="35661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métrica define el problema: Accuracy confunde, Recall aclara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estratificado indispensable con clases desbalanceadas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train/CV &gt; test para decisiones de diseño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selección (CV) de evaluación (test) es no-negociable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840480"/>
            <a:ext cx="7680960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3977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 modelo clínico debe optimizar lo que importa: detectar enfermos. La métrica es la hipótesis."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Clasificacion Supervisada</dc:title>
  <dc:subject>PptxGenJS Presentation</dc:subject>
  <dc:creator>ML ITBA</dc:creator>
  <cp:lastModifiedBy>ML ITBA</cp:lastModifiedBy>
  <cp:revision>1</cp:revision>
  <dcterms:created xsi:type="dcterms:W3CDTF">2026-05-11T22:05:59Z</dcterms:created>
  <dcterms:modified xsi:type="dcterms:W3CDTF">2026-05-11T22:05:59Z</dcterms:modified>
</cp:coreProperties>
</file>